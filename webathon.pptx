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DM Sans Bold" panose="020B0604020202020204" charset="0"/>
      <p:regular r:id="rId9"/>
    </p:embeddedFont>
    <p:embeddedFont>
      <p:font typeface="ITC Benguiat" panose="020B0604020202020204" charset="0"/>
      <p:regular r:id="rId10"/>
    </p:embeddedFont>
    <p:embeddedFont>
      <p:font typeface="Pattanakarn SemiExpanded" panose="020B0604020202020204" charset="-34"/>
      <p:regular r:id="rId11"/>
    </p:embeddedFont>
    <p:embeddedFont>
      <p:font typeface="Pattanakarn SemiExpanded Bold" panose="020B0604020202020204" charset="-34"/>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3065924" y="3571308"/>
            <a:ext cx="13997540" cy="2149960"/>
          </a:xfrm>
          <a:prstGeom prst="rect">
            <a:avLst/>
          </a:prstGeom>
        </p:spPr>
        <p:txBody>
          <a:bodyPr lIns="0" tIns="0" rIns="0" bIns="0" rtlCol="0" anchor="t">
            <a:spAutoFit/>
          </a:bodyPr>
          <a:lstStyle/>
          <a:p>
            <a:pPr algn="ctr">
              <a:lnSpc>
                <a:spcPts val="17669"/>
              </a:lnSpc>
              <a:spcBef>
                <a:spcPct val="0"/>
              </a:spcBef>
            </a:pPr>
            <a:r>
              <a:rPr lang="en-US" sz="12620" b="1" spc="-63">
                <a:solidFill>
                  <a:srgbClr val="000000"/>
                </a:solidFill>
                <a:latin typeface="Pattanakarn SemiExpanded Bold"/>
                <a:ea typeface="Pattanakarn SemiExpanded Bold"/>
                <a:cs typeface="Pattanakarn SemiExpanded Bold"/>
                <a:sym typeface="Pattanakarn SemiExpanded Bold"/>
              </a:rPr>
              <a:t>WEBATHON 4.0</a:t>
            </a:r>
          </a:p>
        </p:txBody>
      </p:sp>
      <p:sp>
        <p:nvSpPr>
          <p:cNvPr id="4" name="Freeform 4"/>
          <p:cNvSpPr/>
          <p:nvPr/>
        </p:nvSpPr>
        <p:spPr>
          <a:xfrm>
            <a:off x="1224536" y="3881301"/>
            <a:ext cx="1841387" cy="1630465"/>
          </a:xfrm>
          <a:custGeom>
            <a:avLst/>
            <a:gdLst/>
            <a:ahLst/>
            <a:cxnLst/>
            <a:rect l="l" t="t" r="r" b="b"/>
            <a:pathLst>
              <a:path w="1841387" h="1630465">
                <a:moveTo>
                  <a:pt x="0" y="0"/>
                </a:moveTo>
                <a:lnTo>
                  <a:pt x="1841388" y="0"/>
                </a:lnTo>
                <a:lnTo>
                  <a:pt x="1841388" y="1630464"/>
                </a:lnTo>
                <a:lnTo>
                  <a:pt x="0" y="163046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2901662" y="5534477"/>
            <a:ext cx="992442" cy="728993"/>
          </a:xfrm>
          <a:custGeom>
            <a:avLst/>
            <a:gdLst/>
            <a:ahLst/>
            <a:cxnLst/>
            <a:rect l="l" t="t" r="r" b="b"/>
            <a:pathLst>
              <a:path w="992442" h="728993">
                <a:moveTo>
                  <a:pt x="0" y="0"/>
                </a:moveTo>
                <a:lnTo>
                  <a:pt x="992442" y="0"/>
                </a:lnTo>
                <a:lnTo>
                  <a:pt x="992442" y="728994"/>
                </a:lnTo>
                <a:lnTo>
                  <a:pt x="0" y="72899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424759" y="300728"/>
            <a:ext cx="5769809" cy="1644396"/>
          </a:xfrm>
          <a:custGeom>
            <a:avLst/>
            <a:gdLst/>
            <a:ahLst/>
            <a:cxnLst/>
            <a:rect l="l" t="t" r="r" b="b"/>
            <a:pathLst>
              <a:path w="5769809" h="1644396">
                <a:moveTo>
                  <a:pt x="0" y="0"/>
                </a:moveTo>
                <a:lnTo>
                  <a:pt x="5769809" y="0"/>
                </a:lnTo>
                <a:lnTo>
                  <a:pt x="5769809" y="1644395"/>
                </a:lnTo>
                <a:lnTo>
                  <a:pt x="0" y="1644395"/>
                </a:lnTo>
                <a:lnTo>
                  <a:pt x="0" y="0"/>
                </a:lnTo>
                <a:close/>
              </a:path>
            </a:pathLst>
          </a:custGeom>
          <a:blipFill>
            <a:blip r:embed="rId7"/>
            <a:stretch>
              <a:fillRect/>
            </a:stretch>
          </a:blipFill>
        </p:spPr>
      </p:sp>
      <p:sp>
        <p:nvSpPr>
          <p:cNvPr id="7" name="Freeform 7"/>
          <p:cNvSpPr/>
          <p:nvPr/>
        </p:nvSpPr>
        <p:spPr>
          <a:xfrm>
            <a:off x="15943522" y="300728"/>
            <a:ext cx="1918826" cy="1918826"/>
          </a:xfrm>
          <a:custGeom>
            <a:avLst/>
            <a:gdLst/>
            <a:ahLst/>
            <a:cxnLst/>
            <a:rect l="l" t="t" r="r" b="b"/>
            <a:pathLst>
              <a:path w="1918826" h="1918826">
                <a:moveTo>
                  <a:pt x="0" y="0"/>
                </a:moveTo>
                <a:lnTo>
                  <a:pt x="1918826" y="0"/>
                </a:lnTo>
                <a:lnTo>
                  <a:pt x="1918826" y="1918825"/>
                </a:lnTo>
                <a:lnTo>
                  <a:pt x="0" y="1918825"/>
                </a:lnTo>
                <a:lnTo>
                  <a:pt x="0" y="0"/>
                </a:lnTo>
                <a:close/>
              </a:path>
            </a:pathLst>
          </a:custGeom>
          <a:blipFill>
            <a:blip r:embed="rId8"/>
            <a:stretch>
              <a:fillRect/>
            </a:stretch>
          </a:blipFill>
        </p:spPr>
      </p:sp>
      <p:sp>
        <p:nvSpPr>
          <p:cNvPr id="8" name="TextBox 8"/>
          <p:cNvSpPr txBox="1"/>
          <p:nvPr/>
        </p:nvSpPr>
        <p:spPr>
          <a:xfrm>
            <a:off x="5538858" y="5553527"/>
            <a:ext cx="7210284" cy="2292796"/>
          </a:xfrm>
          <a:prstGeom prst="rect">
            <a:avLst/>
          </a:prstGeom>
        </p:spPr>
        <p:txBody>
          <a:bodyPr lIns="0" tIns="0" rIns="0" bIns="0" rtlCol="0" anchor="t">
            <a:spAutoFit/>
          </a:bodyPr>
          <a:lstStyle/>
          <a:p>
            <a:pPr algn="ctr">
              <a:lnSpc>
                <a:spcPts val="5616"/>
              </a:lnSpc>
            </a:pPr>
            <a:r>
              <a:rPr lang="en-US" sz="5975">
                <a:solidFill>
                  <a:srgbClr val="000000"/>
                </a:solidFill>
                <a:latin typeface="ITC Benguiat"/>
                <a:ea typeface="ITC Benguiat"/>
                <a:cs typeface="ITC Benguiat"/>
                <a:sym typeface="ITC Benguiat"/>
              </a:rPr>
              <a:t>Pitch, Build, Deploy</a:t>
            </a:r>
          </a:p>
          <a:p>
            <a:pPr algn="ctr">
              <a:lnSpc>
                <a:spcPts val="5616"/>
              </a:lnSpc>
            </a:pPr>
            <a:r>
              <a:rPr lang="en-US" sz="5975">
                <a:solidFill>
                  <a:srgbClr val="000000"/>
                </a:solidFill>
                <a:latin typeface="ITC Benguiat"/>
                <a:ea typeface="ITC Benguiat"/>
                <a:cs typeface="ITC Benguiat"/>
                <a:sym typeface="ITC Benguiat"/>
              </a:rPr>
              <a:t>​</a:t>
            </a:r>
          </a:p>
          <a:p>
            <a:pPr algn="ctr">
              <a:lnSpc>
                <a:spcPts val="5616"/>
              </a:lnSpc>
            </a:pPr>
            <a:r>
              <a:rPr lang="en-US" sz="5975">
                <a:solidFill>
                  <a:srgbClr val="000000"/>
                </a:solidFill>
                <a:latin typeface="ITC Benguiat"/>
                <a:ea typeface="ITC Benguiat"/>
                <a:cs typeface="ITC Benguiat"/>
                <a:sym typeface="ITC Benguiat"/>
              </a:rPr>
              <a:t>   </a:t>
            </a:r>
          </a:p>
        </p:txBody>
      </p:sp>
      <p:sp>
        <p:nvSpPr>
          <p:cNvPr id="9" name="TextBox 9"/>
          <p:cNvSpPr txBox="1"/>
          <p:nvPr/>
        </p:nvSpPr>
        <p:spPr>
          <a:xfrm>
            <a:off x="2344478" y="7506180"/>
            <a:ext cx="13599045" cy="1338580"/>
          </a:xfrm>
          <a:prstGeom prst="rect">
            <a:avLst/>
          </a:prstGeom>
        </p:spPr>
        <p:txBody>
          <a:bodyPr lIns="0" tIns="0" rIns="0" bIns="0" rtlCol="0" anchor="t">
            <a:spAutoFit/>
          </a:bodyPr>
          <a:lstStyle/>
          <a:p>
            <a:pPr algn="ctr">
              <a:lnSpc>
                <a:spcPts val="5574"/>
              </a:lnSpc>
            </a:pPr>
            <a:r>
              <a:rPr lang="en-US" sz="3981" b="1" spc="-103">
                <a:solidFill>
                  <a:srgbClr val="000000"/>
                </a:solidFill>
                <a:latin typeface="DM Sans Bold"/>
                <a:ea typeface="DM Sans Bold"/>
                <a:cs typeface="DM Sans Bold"/>
                <a:sym typeface="DM Sans Bold"/>
              </a:rPr>
              <a:t>Presented by</a:t>
            </a:r>
          </a:p>
          <a:p>
            <a:pPr algn="ctr">
              <a:lnSpc>
                <a:spcPts val="4381"/>
              </a:lnSpc>
            </a:pPr>
            <a:r>
              <a:rPr lang="en-US" sz="4381" b="1" spc="-113">
                <a:solidFill>
                  <a:srgbClr val="000000"/>
                </a:solidFill>
                <a:latin typeface="DM Sans Bold"/>
                <a:ea typeface="DM Sans Bold"/>
                <a:cs typeface="DM Sans Bold"/>
                <a:sym typeface="DM Sans Bold"/>
              </a:rPr>
              <a:t>ACM VNRVJIET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5943522" y="300728"/>
            <a:ext cx="1918826" cy="1918826"/>
          </a:xfrm>
          <a:custGeom>
            <a:avLst/>
            <a:gdLst/>
            <a:ahLst/>
            <a:cxnLst/>
            <a:rect l="l" t="t" r="r" b="b"/>
            <a:pathLst>
              <a:path w="1918826" h="1918826">
                <a:moveTo>
                  <a:pt x="0" y="0"/>
                </a:moveTo>
                <a:lnTo>
                  <a:pt x="1918826" y="0"/>
                </a:lnTo>
                <a:lnTo>
                  <a:pt x="1918826" y="1918825"/>
                </a:lnTo>
                <a:lnTo>
                  <a:pt x="0" y="1918825"/>
                </a:lnTo>
                <a:lnTo>
                  <a:pt x="0" y="0"/>
                </a:lnTo>
                <a:close/>
              </a:path>
            </a:pathLst>
          </a:custGeom>
          <a:blipFill>
            <a:blip r:embed="rId3"/>
            <a:stretch>
              <a:fillRect/>
            </a:stretch>
          </a:blipFill>
        </p:spPr>
      </p:sp>
      <p:sp>
        <p:nvSpPr>
          <p:cNvPr id="4" name="TextBox 4"/>
          <p:cNvSpPr txBox="1"/>
          <p:nvPr/>
        </p:nvSpPr>
        <p:spPr>
          <a:xfrm>
            <a:off x="1697186" y="1533997"/>
            <a:ext cx="4733685" cy="685556"/>
          </a:xfrm>
          <a:prstGeom prst="rect">
            <a:avLst/>
          </a:prstGeom>
        </p:spPr>
        <p:txBody>
          <a:bodyPr lIns="0" tIns="0" rIns="0" bIns="0" rtlCol="0" anchor="t">
            <a:spAutoFit/>
          </a:bodyPr>
          <a:lstStyle/>
          <a:p>
            <a:pPr algn="l">
              <a:lnSpc>
                <a:spcPts val="5109"/>
              </a:lnSpc>
            </a:pPr>
            <a:r>
              <a:rPr lang="en-US" sz="5267" b="1">
                <a:solidFill>
                  <a:srgbClr val="000000"/>
                </a:solidFill>
                <a:latin typeface="Pattanakarn SemiExpanded Bold"/>
                <a:ea typeface="Pattanakarn SemiExpanded Bold"/>
                <a:cs typeface="Pattanakarn SemiExpanded Bold"/>
                <a:sym typeface="Pattanakarn SemiExpanded Bold"/>
              </a:rPr>
              <a:t>TEAM NAME​</a:t>
            </a:r>
          </a:p>
        </p:txBody>
      </p:sp>
      <p:sp>
        <p:nvSpPr>
          <p:cNvPr id="5" name="TextBox 5"/>
          <p:cNvSpPr txBox="1"/>
          <p:nvPr/>
        </p:nvSpPr>
        <p:spPr>
          <a:xfrm>
            <a:off x="990600" y="2878149"/>
            <a:ext cx="16535400" cy="6106223"/>
          </a:xfrm>
          <a:prstGeom prst="rect">
            <a:avLst/>
          </a:prstGeom>
        </p:spPr>
        <p:txBody>
          <a:bodyPr wrap="square" lIns="0" tIns="0" rIns="0" bIns="0" rtlCol="0" anchor="t">
            <a:spAutoFit/>
          </a:bodyPr>
          <a:lstStyle/>
          <a:p>
            <a:pPr marL="748932" lvl="1" indent="-374466" algn="l">
              <a:lnSpc>
                <a:spcPts val="6937"/>
              </a:lnSpc>
              <a:buFont typeface="Arial"/>
              <a:buChar char="•"/>
            </a:pPr>
            <a:r>
              <a:rPr lang="en-US" sz="3468" u="none" spc="208" dirty="0">
                <a:solidFill>
                  <a:srgbClr val="000000"/>
                </a:solidFill>
                <a:latin typeface="Pattanakarn SemiExpanded"/>
                <a:ea typeface="Pattanakarn SemiExpanded"/>
                <a:cs typeface="Pattanakarn SemiExpanded"/>
                <a:sym typeface="Pattanakarn SemiExpanded"/>
              </a:rPr>
              <a:t> Team leader name:​</a:t>
            </a:r>
            <a:r>
              <a:rPr lang="en-US" sz="3468" spc="208" dirty="0" err="1">
                <a:solidFill>
                  <a:srgbClr val="000000"/>
                </a:solidFill>
                <a:latin typeface="Pattanakarn SemiExpanded"/>
                <a:ea typeface="Pattanakarn SemiExpanded"/>
                <a:cs typeface="Pattanakarn SemiExpanded"/>
                <a:sym typeface="Pattanakarn SemiExpanded"/>
              </a:rPr>
              <a:t>V.Vivek</a:t>
            </a:r>
            <a:r>
              <a:rPr lang="en-US" sz="3468" spc="208" dirty="0">
                <a:solidFill>
                  <a:srgbClr val="000000"/>
                </a:solidFill>
                <a:latin typeface="Pattanakarn SemiExpanded"/>
                <a:ea typeface="Pattanakarn SemiExpanded"/>
                <a:cs typeface="Pattanakarn SemiExpanded"/>
                <a:sym typeface="Pattanakarn SemiExpanded"/>
              </a:rPr>
              <a:t> Reddy</a:t>
            </a:r>
            <a:endParaRPr lang="en-US" sz="3468" u="none" spc="208" dirty="0">
              <a:solidFill>
                <a:srgbClr val="000000"/>
              </a:solidFill>
              <a:latin typeface="Pattanakarn SemiExpanded"/>
              <a:ea typeface="Pattanakarn SemiExpanded"/>
              <a:cs typeface="Pattanakarn SemiExpanded"/>
              <a:sym typeface="Pattanakarn SemiExpanded"/>
            </a:endParaRPr>
          </a:p>
          <a:p>
            <a:pPr marL="748932" lvl="1" indent="-374466">
              <a:lnSpc>
                <a:spcPts val="6937"/>
              </a:lnSpc>
              <a:buFont typeface="Arial"/>
              <a:buChar char="•"/>
            </a:pPr>
            <a:r>
              <a:rPr lang="en-US" sz="3468" u="none" spc="208" dirty="0">
                <a:solidFill>
                  <a:srgbClr val="000000"/>
                </a:solidFill>
                <a:latin typeface="Pattanakarn SemiExpanded"/>
                <a:ea typeface="Pattanakarn SemiExpanded"/>
                <a:cs typeface="Pattanakarn SemiExpanded"/>
                <a:sym typeface="Pattanakarn SemiExpanded"/>
              </a:rPr>
              <a:t> Team leader mobile number:​</a:t>
            </a:r>
            <a:r>
              <a:rPr lang="en-US" sz="3468" spc="208" dirty="0">
                <a:solidFill>
                  <a:srgbClr val="000000"/>
                </a:solidFill>
                <a:latin typeface="Pattanakarn SemiExpanded"/>
                <a:ea typeface="Pattanakarn SemiExpanded"/>
                <a:cs typeface="Pattanakarn SemiExpanded"/>
                <a:sym typeface="Pattanakarn SemiExpanded"/>
              </a:rPr>
              <a:t>6304594657</a:t>
            </a:r>
            <a:endParaRPr lang="en-US" sz="3468" u="none" spc="208" dirty="0">
              <a:solidFill>
                <a:srgbClr val="000000"/>
              </a:solidFill>
              <a:latin typeface="Pattanakarn SemiExpanded"/>
              <a:ea typeface="Pattanakarn SemiExpanded"/>
              <a:cs typeface="Pattanakarn SemiExpanded"/>
              <a:sym typeface="Pattanakarn SemiExpanded"/>
            </a:endParaRPr>
          </a:p>
          <a:p>
            <a:pPr marL="748932" lvl="1" indent="-374466">
              <a:lnSpc>
                <a:spcPts val="6937"/>
              </a:lnSpc>
              <a:buFont typeface="Arial"/>
              <a:buChar char="•"/>
            </a:pPr>
            <a:r>
              <a:rPr lang="en-US" sz="3468" u="none" spc="208" dirty="0">
                <a:solidFill>
                  <a:srgbClr val="000000"/>
                </a:solidFill>
                <a:latin typeface="Pattanakarn SemiExpanded"/>
                <a:ea typeface="Pattanakarn SemiExpanded"/>
                <a:cs typeface="Pattanakarn SemiExpanded"/>
                <a:sym typeface="Pattanakarn SemiExpanded"/>
              </a:rPr>
              <a:t> Team leader email:​</a:t>
            </a:r>
            <a:r>
              <a:rPr lang="fr-FR" sz="3468" spc="208" dirty="0">
                <a:solidFill>
                  <a:srgbClr val="000000"/>
                </a:solidFill>
                <a:latin typeface="Pattanakarn SemiExpanded"/>
                <a:ea typeface="Pattanakarn SemiExpanded"/>
                <a:cs typeface="Pattanakarn SemiExpanded"/>
                <a:sym typeface="Pattanakarn SemiExpanded"/>
              </a:rPr>
              <a:t>vivekreddy.vicky24@gmail.com</a:t>
            </a:r>
            <a:endParaRPr lang="en-US" sz="3468" u="none" spc="208" dirty="0">
              <a:solidFill>
                <a:srgbClr val="000000"/>
              </a:solidFill>
              <a:latin typeface="Pattanakarn SemiExpanded"/>
              <a:ea typeface="Pattanakarn SemiExpanded"/>
              <a:cs typeface="Pattanakarn SemiExpanded"/>
              <a:sym typeface="Pattanakarn SemiExpanded"/>
            </a:endParaRPr>
          </a:p>
          <a:p>
            <a:pPr marL="748932" lvl="1" indent="-374466" algn="l">
              <a:lnSpc>
                <a:spcPts val="6937"/>
              </a:lnSpc>
              <a:buFont typeface="Arial"/>
              <a:buChar char="•"/>
            </a:pPr>
            <a:r>
              <a:rPr lang="en-US" sz="3468" u="none" spc="208" dirty="0">
                <a:solidFill>
                  <a:srgbClr val="000000"/>
                </a:solidFill>
                <a:latin typeface="Pattanakarn SemiExpanded"/>
                <a:ea typeface="Pattanakarn SemiExpanded"/>
                <a:cs typeface="Pattanakarn SemiExpanded"/>
                <a:sym typeface="Pattanakarn SemiExpanded"/>
              </a:rPr>
              <a:t> No. of team members:​5</a:t>
            </a:r>
          </a:p>
          <a:p>
            <a:pPr marL="748932" lvl="1" indent="-374466" algn="l">
              <a:lnSpc>
                <a:spcPts val="6937"/>
              </a:lnSpc>
              <a:buFont typeface="Arial"/>
              <a:buChar char="•"/>
            </a:pPr>
            <a:r>
              <a:rPr lang="en-US" sz="3468" u="none" spc="208" dirty="0">
                <a:solidFill>
                  <a:srgbClr val="000000"/>
                </a:solidFill>
                <a:latin typeface="Pattanakarn SemiExpanded"/>
                <a:ea typeface="Pattanakarn SemiExpanded"/>
                <a:cs typeface="Pattanakarn SemiExpanded"/>
                <a:sym typeface="Pattanakarn SemiExpanded"/>
              </a:rPr>
              <a:t> Team Details: Rahul(23071A12D3),</a:t>
            </a:r>
            <a:r>
              <a:rPr lang="en-US" sz="3468" u="none" spc="208" dirty="0" err="1">
                <a:solidFill>
                  <a:srgbClr val="000000"/>
                </a:solidFill>
                <a:latin typeface="Pattanakarn SemiExpanded"/>
                <a:ea typeface="Pattanakarn SemiExpanded"/>
                <a:cs typeface="Pattanakarn SemiExpanded"/>
                <a:sym typeface="Pattanakarn SemiExpanded"/>
              </a:rPr>
              <a:t>Chaithrika</a:t>
            </a:r>
            <a:r>
              <a:rPr lang="en-US" sz="3468" u="none" spc="208" dirty="0">
                <a:solidFill>
                  <a:srgbClr val="000000"/>
                </a:solidFill>
                <a:latin typeface="Pattanakarn SemiExpanded"/>
                <a:ea typeface="Pattanakarn SemiExpanded"/>
                <a:cs typeface="Pattanakarn SemiExpanded"/>
                <a:sym typeface="Pattanakarn SemiExpanded"/>
              </a:rPr>
              <a:t>(23071A12D7),</a:t>
            </a:r>
          </a:p>
          <a:p>
            <a:pPr marL="374466" lvl="1" algn="l">
              <a:lnSpc>
                <a:spcPts val="6937"/>
              </a:lnSpc>
            </a:pPr>
            <a:r>
              <a:rPr lang="en-US" sz="3468" spc="208" dirty="0">
                <a:solidFill>
                  <a:srgbClr val="000000"/>
                </a:solidFill>
                <a:latin typeface="Pattanakarn SemiExpanded"/>
                <a:ea typeface="Pattanakarn SemiExpanded"/>
                <a:cs typeface="Pattanakarn SemiExpanded"/>
                <a:sym typeface="Pattanakarn SemiExpanded"/>
              </a:rPr>
              <a:t>                          Ashish(23071A12G5),Pradeep(23071A12J3)</a:t>
            </a:r>
            <a:endParaRPr lang="en-US" sz="3468" u="none" spc="208" dirty="0">
              <a:solidFill>
                <a:srgbClr val="000000"/>
              </a:solidFill>
              <a:latin typeface="Pattanakarn SemiExpanded"/>
              <a:ea typeface="Pattanakarn SemiExpanded"/>
              <a:cs typeface="Pattanakarn SemiExpanded"/>
              <a:sym typeface="Pattanakarn SemiExpanded"/>
            </a:endParaRPr>
          </a:p>
          <a:p>
            <a:pPr algn="l">
              <a:lnSpc>
                <a:spcPts val="6937"/>
              </a:lnSpc>
            </a:pPr>
            <a:r>
              <a:rPr lang="en-US" sz="3468" u="none" spc="208" dirty="0">
                <a:solidFill>
                  <a:srgbClr val="000000"/>
                </a:solidFill>
                <a:latin typeface="Pattanakarn SemiExpanded"/>
                <a:ea typeface="Pattanakarn SemiExpanded"/>
                <a:cs typeface="Pattanakarn SemiExpanded"/>
                <a:sym typeface="Pattanakarn SemiExpanded"/>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51541"/>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sp>
        <p:nvSpPr>
          <p:cNvPr id="3" name="Freeform 3"/>
          <p:cNvSpPr/>
          <p:nvPr/>
        </p:nvSpPr>
        <p:spPr>
          <a:xfrm>
            <a:off x="15943522" y="300728"/>
            <a:ext cx="1918826" cy="1918826"/>
          </a:xfrm>
          <a:custGeom>
            <a:avLst/>
            <a:gdLst/>
            <a:ahLst/>
            <a:cxnLst/>
            <a:rect l="l" t="t" r="r" b="b"/>
            <a:pathLst>
              <a:path w="1918826" h="1918826">
                <a:moveTo>
                  <a:pt x="0" y="0"/>
                </a:moveTo>
                <a:lnTo>
                  <a:pt x="1918826" y="0"/>
                </a:lnTo>
                <a:lnTo>
                  <a:pt x="1918826" y="1918825"/>
                </a:lnTo>
                <a:lnTo>
                  <a:pt x="0" y="1918825"/>
                </a:lnTo>
                <a:lnTo>
                  <a:pt x="0" y="0"/>
                </a:lnTo>
                <a:close/>
              </a:path>
            </a:pathLst>
          </a:custGeom>
          <a:blipFill>
            <a:blip r:embed="rId3"/>
            <a:stretch>
              <a:fillRect/>
            </a:stretch>
          </a:blipFill>
        </p:spPr>
      </p:sp>
      <p:sp>
        <p:nvSpPr>
          <p:cNvPr id="4" name="TextBox 4"/>
          <p:cNvSpPr txBox="1"/>
          <p:nvPr/>
        </p:nvSpPr>
        <p:spPr>
          <a:xfrm>
            <a:off x="609600" y="1257299"/>
            <a:ext cx="11277600" cy="1088760"/>
          </a:xfrm>
          <a:prstGeom prst="rect">
            <a:avLst/>
          </a:prstGeom>
        </p:spPr>
        <p:txBody>
          <a:bodyPr wrap="square" lIns="0" tIns="0" rIns="0" bIns="0" rtlCol="0" anchor="t">
            <a:spAutoFit/>
          </a:bodyPr>
          <a:lstStyle/>
          <a:p>
            <a:pPr algn="l">
              <a:lnSpc>
                <a:spcPts val="8395"/>
              </a:lnSpc>
            </a:pPr>
            <a:r>
              <a:rPr lang="en-US" sz="7300" b="1" dirty="0">
                <a:solidFill>
                  <a:srgbClr val="000000"/>
                </a:solidFill>
                <a:latin typeface="Pattanakarn SemiExpanded Bold"/>
                <a:ea typeface="Pattanakarn SemiExpanded Bold"/>
                <a:cs typeface="Pattanakarn SemiExpanded Bold"/>
                <a:sym typeface="Pattanakarn SemiExpanded Bold"/>
              </a:rPr>
              <a:t>Problem Statement</a:t>
            </a:r>
          </a:p>
        </p:txBody>
      </p:sp>
      <p:sp>
        <p:nvSpPr>
          <p:cNvPr id="6" name="TextBox 5">
            <a:extLst>
              <a:ext uri="{FF2B5EF4-FFF2-40B4-BE49-F238E27FC236}">
                <a16:creationId xmlns:a16="http://schemas.microsoft.com/office/drawing/2014/main" id="{A791B6D9-AD5A-1A2F-E8FA-F72D545DAF74}"/>
              </a:ext>
            </a:extLst>
          </p:cNvPr>
          <p:cNvSpPr txBox="1"/>
          <p:nvPr/>
        </p:nvSpPr>
        <p:spPr>
          <a:xfrm>
            <a:off x="425652" y="1485900"/>
            <a:ext cx="17862348" cy="15788938"/>
          </a:xfrm>
          <a:prstGeom prst="rect">
            <a:avLst/>
          </a:prstGeom>
          <a:noFill/>
        </p:spPr>
        <p:txBody>
          <a:bodyPr wrap="square" rtlCol="0">
            <a:spAutoFit/>
          </a:bodyPr>
          <a:lstStyle/>
          <a:p>
            <a:endParaRPr lang="en-IN" sz="2400" b="1" dirty="0">
              <a:latin typeface="Pattanakarn SemiExpanded" panose="020B0604020202020204" charset="-34"/>
              <a:cs typeface="Pattanakarn SemiExpanded" panose="020B0604020202020204" charset="-34"/>
            </a:endParaRPr>
          </a:p>
          <a:p>
            <a:pPr>
              <a:lnSpc>
                <a:spcPct val="200000"/>
              </a:lnSpc>
            </a:pPr>
            <a:endParaRPr lang="en-IN" sz="2400" b="1" dirty="0">
              <a:latin typeface="Pattanakarn SemiExpanded" panose="020B0604020202020204" charset="-34"/>
              <a:cs typeface="Pattanakarn SemiExpanded" panose="020B0604020202020204" charset="-34"/>
            </a:endParaRPr>
          </a:p>
          <a:p>
            <a:pPr>
              <a:lnSpc>
                <a:spcPct val="200000"/>
              </a:lnSpc>
            </a:pPr>
            <a:r>
              <a:rPr lang="en-IN" sz="2400" b="1" dirty="0">
                <a:latin typeface="Pattanakarn SemiExpanded" panose="020B0604020202020204" charset="-34"/>
                <a:cs typeface="Pattanakarn SemiExpanded" panose="020B0604020202020204" charset="-34"/>
              </a:rPr>
              <a:t>Problem Statement ID: 1</a:t>
            </a:r>
            <a:endParaRPr lang="en-GB" sz="2400" b="1" dirty="0">
              <a:latin typeface="Pattanakarn SemiExpanded" panose="020B0604020202020204" charset="-34"/>
              <a:cs typeface="Pattanakarn SemiExpanded" panose="020B0604020202020204" charset="-34"/>
            </a:endParaRPr>
          </a:p>
          <a:p>
            <a:pPr>
              <a:lnSpc>
                <a:spcPct val="200000"/>
              </a:lnSpc>
            </a:pPr>
            <a:r>
              <a:rPr lang="en-GB" sz="2000" b="1" dirty="0">
                <a:latin typeface="Pattanakarn SemiExpanded" panose="020B0604020202020204" charset="-34"/>
                <a:cs typeface="Pattanakarn SemiExpanded" panose="020B0604020202020204" charset="-34"/>
              </a:rPr>
              <a:t>Early Detection of </a:t>
            </a:r>
            <a:r>
              <a:rPr lang="en-GB" sz="2000" b="1" dirty="0" err="1">
                <a:latin typeface="Pattanakarn SemiExpanded" panose="020B0604020202020204" charset="-34"/>
                <a:cs typeface="Pattanakarn SemiExpanded" panose="020B0604020202020204" charset="-34"/>
              </a:rPr>
              <a:t>Behavioral</a:t>
            </a:r>
            <a:r>
              <a:rPr lang="en-GB" sz="2000" b="1" dirty="0">
                <a:latin typeface="Pattanakarn SemiExpanded" panose="020B0604020202020204" charset="-34"/>
                <a:cs typeface="Pattanakarn SemiExpanded" panose="020B0604020202020204" charset="-34"/>
              </a:rPr>
              <a:t> Shifts in Youth Mental Health</a:t>
            </a:r>
          </a:p>
          <a:p>
            <a:pPr>
              <a:lnSpc>
                <a:spcPct val="200000"/>
              </a:lnSpc>
            </a:pPr>
            <a:endParaRPr lang="en-GB" sz="2000" b="1" dirty="0">
              <a:latin typeface="Pattanakarn SemiExpanded" panose="020B0604020202020204" charset="-34"/>
              <a:cs typeface="Pattanakarn SemiExpanded" panose="020B0604020202020204" charset="-34"/>
            </a:endParaRPr>
          </a:p>
          <a:p>
            <a:pPr>
              <a:lnSpc>
                <a:spcPct val="200000"/>
              </a:lnSpc>
            </a:pPr>
            <a:r>
              <a:rPr lang="en-GB" sz="2000" dirty="0">
                <a:latin typeface="Pattanakarn SemiExpanded" panose="020B0604020202020204" charset="-34"/>
                <a:cs typeface="Pattanakarn SemiExpanded" panose="020B0604020202020204" charset="-34"/>
              </a:rPr>
              <a:t>Many young people experience emotional distress long before they seek professional help, and this distress often appears as subtle changes in daily habits such as increased alcohol use, vaping, or reliance on prescription medication. These </a:t>
            </a:r>
            <a:r>
              <a:rPr lang="en-GB" sz="2000" dirty="0" err="1">
                <a:latin typeface="Pattanakarn SemiExpanded" panose="020B0604020202020204" charset="-34"/>
                <a:cs typeface="Pattanakarn SemiExpanded" panose="020B0604020202020204" charset="-34"/>
              </a:rPr>
              <a:t>behaviors</a:t>
            </a:r>
            <a:r>
              <a:rPr lang="en-GB" sz="2000" dirty="0">
                <a:latin typeface="Pattanakarn SemiExpanded" panose="020B0604020202020204" charset="-34"/>
                <a:cs typeface="Pattanakarn SemiExpanded" panose="020B0604020202020204" charset="-34"/>
              </a:rPr>
              <a:t> are frequently coping mechanisms rather than recreational choices, yet they are often dismissed as normal phases and go unnoticed. As a result, early warning signs of stress, anxiety, or depression are missed until the situation escalates into a serious mental health crisis. The core challenge is not the lack of </a:t>
            </a:r>
            <a:r>
              <a:rPr lang="en-GB" sz="2000" dirty="0" err="1">
                <a:latin typeface="Pattanakarn SemiExpanded" panose="020B0604020202020204" charset="-34"/>
                <a:cs typeface="Pattanakarn SemiExpanded" panose="020B0604020202020204" charset="-34"/>
              </a:rPr>
              <a:t>behavioral</a:t>
            </a:r>
            <a:r>
              <a:rPr lang="en-GB" sz="2000" dirty="0">
                <a:latin typeface="Pattanakarn SemiExpanded" panose="020B0604020202020204" charset="-34"/>
                <a:cs typeface="Pattanakarn SemiExpanded" panose="020B0604020202020204" charset="-34"/>
              </a:rPr>
              <a:t> data, but the absence of systems capable of interpreting these changes meaningfully and in real time. There is a critical need for an integrated digital solution that responsibly tracks </a:t>
            </a:r>
            <a:r>
              <a:rPr lang="en-GB" sz="2000" dirty="0" err="1">
                <a:latin typeface="Pattanakarn SemiExpanded" panose="020B0604020202020204" charset="-34"/>
                <a:cs typeface="Pattanakarn SemiExpanded" panose="020B0604020202020204" charset="-34"/>
              </a:rPr>
              <a:t>behavior</a:t>
            </a:r>
            <a:r>
              <a:rPr lang="en-GB" sz="2000" dirty="0">
                <a:latin typeface="Pattanakarn SemiExpanded" panose="020B0604020202020204" charset="-34"/>
                <a:cs typeface="Pattanakarn SemiExpanded" panose="020B0604020202020204" charset="-34"/>
              </a:rPr>
              <a:t>, applies intelligent analysis, and enables early, supportive interventions to prevent further mental health deterioration.</a:t>
            </a:r>
          </a:p>
          <a:p>
            <a:pPr>
              <a:lnSpc>
                <a:spcPct val="150000"/>
              </a:lnSpc>
            </a:pPr>
            <a:endParaRPr lang="en-GB" sz="2000" b="1" dirty="0">
              <a:latin typeface="Pattanakarn SemiExpanded" panose="020B0604020202020204" charset="-34"/>
              <a:cs typeface="Pattanakarn SemiExpanded" panose="020B0604020202020204" charset="-34"/>
            </a:endParaRPr>
          </a:p>
          <a:p>
            <a:pPr>
              <a:lnSpc>
                <a:spcPct val="150000"/>
              </a:lnSpc>
            </a:pPr>
            <a:endParaRPr lang="en-GB" sz="2000" b="1" dirty="0">
              <a:latin typeface="Pattanakarn SemiExpanded" panose="020B0604020202020204" charset="-34"/>
              <a:cs typeface="Pattanakarn SemiExpanded" panose="020B0604020202020204" charset="-34"/>
            </a:endParaRPr>
          </a:p>
          <a:p>
            <a:pPr>
              <a:lnSpc>
                <a:spcPct val="150000"/>
              </a:lnSpc>
            </a:pPr>
            <a:endParaRPr lang="en-GB" sz="2000" b="1" dirty="0">
              <a:latin typeface="Pattanakarn SemiExpanded" panose="020B0604020202020204" charset="-34"/>
              <a:cs typeface="Pattanakarn SemiExpanded" panose="020B0604020202020204" charset="-34"/>
            </a:endParaRP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620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sp>
        <p:nvSpPr>
          <p:cNvPr id="3" name="Freeform 3"/>
          <p:cNvSpPr/>
          <p:nvPr/>
        </p:nvSpPr>
        <p:spPr>
          <a:xfrm>
            <a:off x="15943522" y="300728"/>
            <a:ext cx="1918826" cy="1918826"/>
          </a:xfrm>
          <a:custGeom>
            <a:avLst/>
            <a:gdLst/>
            <a:ahLst/>
            <a:cxnLst/>
            <a:rect l="l" t="t" r="r" b="b"/>
            <a:pathLst>
              <a:path w="1918826" h="1918826">
                <a:moveTo>
                  <a:pt x="0" y="0"/>
                </a:moveTo>
                <a:lnTo>
                  <a:pt x="1918826" y="0"/>
                </a:lnTo>
                <a:lnTo>
                  <a:pt x="1918826" y="1918825"/>
                </a:lnTo>
                <a:lnTo>
                  <a:pt x="0" y="1918825"/>
                </a:lnTo>
                <a:lnTo>
                  <a:pt x="0" y="0"/>
                </a:lnTo>
                <a:close/>
              </a:path>
            </a:pathLst>
          </a:custGeom>
          <a:blipFill>
            <a:blip r:embed="rId3"/>
            <a:stretch>
              <a:fillRect/>
            </a:stretch>
          </a:blipFill>
        </p:spPr>
      </p:sp>
      <p:sp>
        <p:nvSpPr>
          <p:cNvPr id="4" name="TextBox 4"/>
          <p:cNvSpPr txBox="1"/>
          <p:nvPr/>
        </p:nvSpPr>
        <p:spPr>
          <a:xfrm>
            <a:off x="425653" y="419100"/>
            <a:ext cx="11232948" cy="1088760"/>
          </a:xfrm>
          <a:prstGeom prst="rect">
            <a:avLst/>
          </a:prstGeom>
        </p:spPr>
        <p:txBody>
          <a:bodyPr wrap="square" lIns="0" tIns="0" rIns="0" bIns="0" rtlCol="0" anchor="t">
            <a:spAutoFit/>
          </a:bodyPr>
          <a:lstStyle/>
          <a:p>
            <a:pPr algn="l">
              <a:lnSpc>
                <a:spcPts val="8395"/>
              </a:lnSpc>
            </a:pPr>
            <a:r>
              <a:rPr lang="en-US" sz="7300" b="1" spc="-80" dirty="0">
                <a:solidFill>
                  <a:srgbClr val="000000"/>
                </a:solidFill>
                <a:latin typeface="Pattanakarn SemiExpanded Bold"/>
                <a:ea typeface="Pattanakarn SemiExpanded Bold"/>
                <a:cs typeface="Pattanakarn SemiExpanded Bold"/>
                <a:sym typeface="Pattanakarn SemiExpanded Bold"/>
              </a:rPr>
              <a:t>Solution Overview</a:t>
            </a:r>
          </a:p>
        </p:txBody>
      </p:sp>
      <p:sp>
        <p:nvSpPr>
          <p:cNvPr id="5" name="TextBox 4">
            <a:extLst>
              <a:ext uri="{FF2B5EF4-FFF2-40B4-BE49-F238E27FC236}">
                <a16:creationId xmlns:a16="http://schemas.microsoft.com/office/drawing/2014/main" id="{0C183138-0A06-AC14-8F24-8D5E82B4B1A7}"/>
              </a:ext>
            </a:extLst>
          </p:cNvPr>
          <p:cNvSpPr txBox="1"/>
          <p:nvPr/>
        </p:nvSpPr>
        <p:spPr>
          <a:xfrm>
            <a:off x="1524000" y="3447686"/>
            <a:ext cx="15392400" cy="1754326"/>
          </a:xfrm>
          <a:prstGeom prst="rect">
            <a:avLst/>
          </a:prstGeom>
          <a:noFill/>
        </p:spPr>
        <p:txBody>
          <a:bodyPr wrap="square" rtlCol="0">
            <a:spAutoFit/>
          </a:bodyPr>
          <a:lstStyle/>
          <a:p>
            <a:endParaRPr lang="en-GB" dirty="0"/>
          </a:p>
          <a:p>
            <a:endParaRPr lang="en-IN" dirty="0"/>
          </a:p>
          <a:p>
            <a:endParaRPr lang="en-IN" dirty="0"/>
          </a:p>
          <a:p>
            <a:endParaRPr lang="en-IN" dirty="0"/>
          </a:p>
          <a:p>
            <a:endParaRPr lang="en-IN" dirty="0"/>
          </a:p>
          <a:p>
            <a:endParaRPr lang="en-IN" dirty="0"/>
          </a:p>
        </p:txBody>
      </p:sp>
      <p:sp>
        <p:nvSpPr>
          <p:cNvPr id="10" name="Rectangle 4">
            <a:extLst>
              <a:ext uri="{FF2B5EF4-FFF2-40B4-BE49-F238E27FC236}">
                <a16:creationId xmlns:a16="http://schemas.microsoft.com/office/drawing/2014/main" id="{8428CE06-AF6A-DD1C-073C-A38B49C5F727}"/>
              </a:ext>
            </a:extLst>
          </p:cNvPr>
          <p:cNvSpPr>
            <a:spLocks noChangeArrowheads="1"/>
          </p:cNvSpPr>
          <p:nvPr/>
        </p:nvSpPr>
        <p:spPr bwMode="auto">
          <a:xfrm>
            <a:off x="1524000" y="5290271"/>
            <a:ext cx="15163800" cy="577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Pattanakarn SemiExpanded" panose="020B0604020202020204" charset="-34"/>
                <a:cs typeface="Pattanakarn SemiExpanded" panose="020B0604020202020204" charset="-34"/>
              </a:rPr>
              <a:t> </a:t>
            </a:r>
          </a:p>
        </p:txBody>
      </p:sp>
      <p:sp>
        <p:nvSpPr>
          <p:cNvPr id="11" name="Rectangle 5">
            <a:extLst>
              <a:ext uri="{FF2B5EF4-FFF2-40B4-BE49-F238E27FC236}">
                <a16:creationId xmlns:a16="http://schemas.microsoft.com/office/drawing/2014/main" id="{FDC801D3-F4CB-35C0-2F51-EF4C978FC45D}"/>
              </a:ext>
            </a:extLst>
          </p:cNvPr>
          <p:cNvSpPr>
            <a:spLocks noChangeArrowheads="1"/>
          </p:cNvSpPr>
          <p:nvPr/>
        </p:nvSpPr>
        <p:spPr bwMode="auto">
          <a:xfrm>
            <a:off x="394105" y="1807624"/>
            <a:ext cx="12026495" cy="7121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Pattanakarn SemiExpanded" panose="020B0604020202020204" charset="-34"/>
                <a:cs typeface="Pattanakarn SemiExpanded" panose="020B0604020202020204" charset="-34"/>
              </a:rPr>
              <a:t>The solution is an AI-enabled mobile application developed using React Native to support early mental health prevention.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Pattanakarn SemiExpanded" panose="020B0604020202020204" charset="-34"/>
                <a:cs typeface="Pattanakarn SemiExpanded" panose="020B0604020202020204" charset="-34"/>
              </a:rPr>
              <a:t>The app collects screen time and app usage data using Android system APIs such as                          </a:t>
            </a:r>
            <a:r>
              <a:rPr kumimoji="0" lang="en-US" altLang="en-US" sz="1800" i="0" u="none" strike="noStrike" cap="none" normalizeH="0" baseline="0" dirty="0" err="1">
                <a:ln>
                  <a:noFill/>
                </a:ln>
                <a:solidFill>
                  <a:schemeClr val="tx1"/>
                </a:solidFill>
                <a:effectLst/>
                <a:latin typeface="Pattanakarn SemiExpanded" panose="020B0604020202020204" charset="-34"/>
                <a:cs typeface="Pattanakarn SemiExpanded" panose="020B0604020202020204" charset="-34"/>
              </a:rPr>
              <a:t>UsageStatsManager</a:t>
            </a:r>
            <a:r>
              <a:rPr kumimoji="0" lang="en-US" altLang="en-US" sz="1800" i="0" u="none" strike="noStrike" cap="none" normalizeH="0" baseline="0" dirty="0">
                <a:ln>
                  <a:noFill/>
                </a:ln>
                <a:solidFill>
                  <a:schemeClr val="tx1"/>
                </a:solidFill>
                <a:effectLst/>
                <a:latin typeface="Pattanakarn SemiExpanded" panose="020B0604020202020204" charset="-34"/>
                <a:cs typeface="Pattanakarn SemiExpanded" panose="020B0604020202020204" charset="-34"/>
              </a:rPr>
              <a:t> and runs continuously through background services.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Pattanakarn SemiExpanded" panose="020B0604020202020204" charset="-34"/>
                <a:cs typeface="Pattanakarn SemiExpanded" panose="020B0604020202020204" charset="-34"/>
              </a:rPr>
              <a:t>User activity data is preprocessed on the device and converted into behavioral features like total screen time, continuous usage duration, and late-night activity.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Pattanakarn SemiExpanded" panose="020B0604020202020204" charset="-34"/>
                <a:cs typeface="Pattanakarn SemiExpanded" panose="020B0604020202020204" charset="-34"/>
              </a:rPr>
              <a:t>An AI-based behavior analysis layer uses models such as Isolation Forest and time-series analysis to learn each user’s normal usage pattern.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Pattanakarn SemiExpanded" panose="020B0604020202020204" charset="-34"/>
                <a:cs typeface="Pattanakarn SemiExpanded" panose="020B0604020202020204" charset="-34"/>
              </a:rPr>
              <a:t>The AI continuously compares current behavior with the user’s personal baseline to detect abnormal or excessive usage trends.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Pattanakarn SemiExpanded" panose="020B0604020202020204" charset="-34"/>
                <a:cs typeface="Pattanakarn SemiExpanded" panose="020B0604020202020204" charset="-34"/>
              </a:rPr>
              <a:t>When sustained overuse is detected, the system triggers intelligent interventions such as reminders, warnings, and temporary locking of distracting apps using the Accessibility Service.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Pattanakarn SemiExpanded" panose="020B0604020202020204" charset="-34"/>
                <a:cs typeface="Pattanakarn SemiExpanded" panose="020B0604020202020204" charset="-34"/>
              </a:rPr>
              <a:t>Notifications and alerts are delivered through Firebase Cloud Messaging (FCM).</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Pattanakarn SemiExpanded" panose="020B0604020202020204" charset="-34"/>
                <a:cs typeface="Pattanakarn SemiExpanded" panose="020B0604020202020204" charset="-34"/>
              </a:rPr>
              <a:t>Usage summaries and AI outputs are securely stored in MongoDB via a Node.js and Express.js backend.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Pattanakarn SemiExpanded" panose="020B0604020202020204" charset="-34"/>
                <a:cs typeface="Pattanakarn SemiExpanded" panose="020B0604020202020204" charset="-34"/>
              </a:rPr>
              <a:t>The solution follows a privacy-first approach, using only usage metadata and never accessing personal messages or content.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458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sp>
        <p:nvSpPr>
          <p:cNvPr id="3" name="Freeform 3"/>
          <p:cNvSpPr/>
          <p:nvPr/>
        </p:nvSpPr>
        <p:spPr>
          <a:xfrm>
            <a:off x="15943522" y="300728"/>
            <a:ext cx="1918826" cy="1918826"/>
          </a:xfrm>
          <a:custGeom>
            <a:avLst/>
            <a:gdLst/>
            <a:ahLst/>
            <a:cxnLst/>
            <a:rect l="l" t="t" r="r" b="b"/>
            <a:pathLst>
              <a:path w="1918826" h="1918826">
                <a:moveTo>
                  <a:pt x="0" y="0"/>
                </a:moveTo>
                <a:lnTo>
                  <a:pt x="1918826" y="0"/>
                </a:lnTo>
                <a:lnTo>
                  <a:pt x="1918826" y="1918825"/>
                </a:lnTo>
                <a:lnTo>
                  <a:pt x="0" y="1918825"/>
                </a:lnTo>
                <a:lnTo>
                  <a:pt x="0" y="0"/>
                </a:lnTo>
                <a:close/>
              </a:path>
            </a:pathLst>
          </a:custGeom>
          <a:blipFill>
            <a:blip r:embed="rId3"/>
            <a:stretch>
              <a:fillRect/>
            </a:stretch>
          </a:blipFill>
        </p:spPr>
      </p:sp>
      <p:sp>
        <p:nvSpPr>
          <p:cNvPr id="4" name="TextBox 4"/>
          <p:cNvSpPr txBox="1"/>
          <p:nvPr/>
        </p:nvSpPr>
        <p:spPr>
          <a:xfrm>
            <a:off x="442858" y="495300"/>
            <a:ext cx="14251152" cy="2165914"/>
          </a:xfrm>
          <a:prstGeom prst="rect">
            <a:avLst/>
          </a:prstGeom>
        </p:spPr>
        <p:txBody>
          <a:bodyPr wrap="square" lIns="0" tIns="0" rIns="0" bIns="0" rtlCol="0" anchor="t">
            <a:spAutoFit/>
          </a:bodyPr>
          <a:lstStyle/>
          <a:p>
            <a:pPr algn="l">
              <a:lnSpc>
                <a:spcPts val="8394"/>
              </a:lnSpc>
            </a:pPr>
            <a:r>
              <a:rPr lang="en-US" sz="7299" b="1" dirty="0">
                <a:solidFill>
                  <a:srgbClr val="000000"/>
                </a:solidFill>
                <a:latin typeface="Pattanakarn SemiExpanded Bold"/>
                <a:ea typeface="Pattanakarn SemiExpanded Bold"/>
                <a:cs typeface="Pattanakarn SemiExpanded Bold"/>
                <a:sym typeface="Pattanakarn SemiExpanded Bold"/>
              </a:rPr>
              <a:t>Objective and Scope of Solution</a:t>
            </a:r>
          </a:p>
        </p:txBody>
      </p:sp>
      <p:sp>
        <p:nvSpPr>
          <p:cNvPr id="5" name="TextBox 4">
            <a:extLst>
              <a:ext uri="{FF2B5EF4-FFF2-40B4-BE49-F238E27FC236}">
                <a16:creationId xmlns:a16="http://schemas.microsoft.com/office/drawing/2014/main" id="{A6F7B662-EC4C-94AC-A1F3-5B6F279D9A40}"/>
              </a:ext>
            </a:extLst>
          </p:cNvPr>
          <p:cNvSpPr txBox="1"/>
          <p:nvPr/>
        </p:nvSpPr>
        <p:spPr>
          <a:xfrm>
            <a:off x="685800" y="2933700"/>
            <a:ext cx="16535400" cy="6117059"/>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GB" dirty="0">
                <a:latin typeface="Pattanakarn SemiExpanded" panose="020B0604020202020204" charset="-34"/>
                <a:cs typeface="Pattanakarn SemiExpanded" panose="020B0604020202020204" charset="-34"/>
              </a:rPr>
              <a:t> To develop a React Native–based mobile application for early detection of mental stress using phone usage </a:t>
            </a:r>
            <a:r>
              <a:rPr lang="en-GB" dirty="0" err="1">
                <a:latin typeface="Pattanakarn SemiExpanded" panose="020B0604020202020204" charset="-34"/>
                <a:cs typeface="Pattanakarn SemiExpanded" panose="020B0604020202020204" charset="-34"/>
              </a:rPr>
              <a:t>behavior</a:t>
            </a:r>
            <a:endParaRPr lang="en-GB" dirty="0">
              <a:latin typeface="Pattanakarn SemiExpanded" panose="020B0604020202020204" charset="-34"/>
              <a:cs typeface="Pattanakarn SemiExpanded" panose="020B0604020202020204" charset="-34"/>
            </a:endParaRPr>
          </a:p>
          <a:p>
            <a:pPr marL="285750" indent="-285750">
              <a:lnSpc>
                <a:spcPct val="200000"/>
              </a:lnSpc>
              <a:buFont typeface="Arial" panose="020B0604020202020204" pitchFamily="34" charset="0"/>
              <a:buChar char="•"/>
            </a:pPr>
            <a:r>
              <a:rPr lang="en-GB" dirty="0">
                <a:latin typeface="Pattanakarn SemiExpanded" panose="020B0604020202020204" charset="-34"/>
                <a:cs typeface="Pattanakarn SemiExpanded" panose="020B0604020202020204" charset="-34"/>
              </a:rPr>
              <a:t>To collect screen time and app usage data using Android system APIs such as </a:t>
            </a:r>
            <a:r>
              <a:rPr lang="en-GB" dirty="0" err="1">
                <a:latin typeface="Pattanakarn SemiExpanded" panose="020B0604020202020204" charset="-34"/>
                <a:cs typeface="Pattanakarn SemiExpanded" panose="020B0604020202020204" charset="-34"/>
              </a:rPr>
              <a:t>UsageStatsManager</a:t>
            </a:r>
            <a:endParaRPr lang="en-GB" dirty="0">
              <a:latin typeface="Pattanakarn SemiExpanded" panose="020B0604020202020204" charset="-34"/>
              <a:cs typeface="Pattanakarn SemiExpanded" panose="020B0604020202020204" charset="-34"/>
            </a:endParaRPr>
          </a:p>
          <a:p>
            <a:pPr marL="285750" indent="-285750">
              <a:lnSpc>
                <a:spcPct val="200000"/>
              </a:lnSpc>
              <a:buFont typeface="Arial" panose="020B0604020202020204" pitchFamily="34" charset="0"/>
              <a:buChar char="•"/>
            </a:pPr>
            <a:r>
              <a:rPr lang="en-GB" dirty="0">
                <a:latin typeface="Pattanakarn SemiExpanded" panose="020B0604020202020204" charset="-34"/>
                <a:cs typeface="Pattanakarn SemiExpanded" panose="020B0604020202020204" charset="-34"/>
              </a:rPr>
              <a:t>To continuously monitor user activity using background services</a:t>
            </a:r>
          </a:p>
          <a:p>
            <a:pPr marL="285750" indent="-285750">
              <a:lnSpc>
                <a:spcPct val="200000"/>
              </a:lnSpc>
              <a:buFont typeface="Arial" panose="020B0604020202020204" pitchFamily="34" charset="0"/>
              <a:buChar char="•"/>
            </a:pPr>
            <a:r>
              <a:rPr lang="en-GB" dirty="0">
                <a:latin typeface="Pattanakarn SemiExpanded" panose="020B0604020202020204" charset="-34"/>
                <a:cs typeface="Pattanakarn SemiExpanded" panose="020B0604020202020204" charset="-34"/>
              </a:rPr>
              <a:t>To apply AI-based </a:t>
            </a:r>
            <a:r>
              <a:rPr lang="en-GB" dirty="0" err="1">
                <a:latin typeface="Pattanakarn SemiExpanded" panose="020B0604020202020204" charset="-34"/>
                <a:cs typeface="Pattanakarn SemiExpanded" panose="020B0604020202020204" charset="-34"/>
              </a:rPr>
              <a:t>behavior</a:t>
            </a:r>
            <a:r>
              <a:rPr lang="en-GB" dirty="0">
                <a:latin typeface="Pattanakarn SemiExpanded" panose="020B0604020202020204" charset="-34"/>
                <a:cs typeface="Pattanakarn SemiExpanded" panose="020B0604020202020204" charset="-34"/>
              </a:rPr>
              <a:t> pattern analysis to learn each user’s normal phone usage routine</a:t>
            </a:r>
          </a:p>
          <a:p>
            <a:pPr marL="285750" indent="-285750">
              <a:lnSpc>
                <a:spcPct val="200000"/>
              </a:lnSpc>
              <a:buFont typeface="Arial" panose="020B0604020202020204" pitchFamily="34" charset="0"/>
              <a:buChar char="•"/>
            </a:pPr>
            <a:r>
              <a:rPr lang="en-GB" dirty="0">
                <a:latin typeface="Pattanakarn SemiExpanded" panose="020B0604020202020204" charset="-34"/>
                <a:cs typeface="Pattanakarn SemiExpanded" panose="020B0604020202020204" charset="-34"/>
              </a:rPr>
              <a:t>To detect abnormal and excessive usage patterns using Isolation Forest and time-series analysis</a:t>
            </a:r>
          </a:p>
          <a:p>
            <a:pPr marL="285750" indent="-285750">
              <a:lnSpc>
                <a:spcPct val="200000"/>
              </a:lnSpc>
              <a:buFont typeface="Arial" panose="020B0604020202020204" pitchFamily="34" charset="0"/>
              <a:buChar char="•"/>
            </a:pPr>
            <a:r>
              <a:rPr lang="en-GB" dirty="0">
                <a:latin typeface="Pattanakarn SemiExpanded" panose="020B0604020202020204" charset="-34"/>
                <a:cs typeface="Pattanakarn SemiExpanded" panose="020B0604020202020204" charset="-34"/>
              </a:rPr>
              <a:t>To compare current </a:t>
            </a:r>
            <a:r>
              <a:rPr lang="en-GB" dirty="0" err="1">
                <a:latin typeface="Pattanakarn SemiExpanded" panose="020B0604020202020204" charset="-34"/>
                <a:cs typeface="Pattanakarn SemiExpanded" panose="020B0604020202020204" charset="-34"/>
              </a:rPr>
              <a:t>behavior</a:t>
            </a:r>
            <a:r>
              <a:rPr lang="en-GB" dirty="0">
                <a:latin typeface="Pattanakarn SemiExpanded" panose="020B0604020202020204" charset="-34"/>
                <a:cs typeface="Pattanakarn SemiExpanded" panose="020B0604020202020204" charset="-34"/>
              </a:rPr>
              <a:t> with a personal baseline instead of fixed screen-time limits</a:t>
            </a:r>
          </a:p>
          <a:p>
            <a:pPr marL="285750" indent="-285750">
              <a:lnSpc>
                <a:spcPct val="200000"/>
              </a:lnSpc>
              <a:buFont typeface="Arial" panose="020B0604020202020204" pitchFamily="34" charset="0"/>
              <a:buChar char="•"/>
            </a:pPr>
            <a:r>
              <a:rPr lang="en-GB" dirty="0">
                <a:latin typeface="Pattanakarn SemiExpanded" panose="020B0604020202020204" charset="-34"/>
                <a:cs typeface="Pattanakarn SemiExpanded" panose="020B0604020202020204" charset="-34"/>
              </a:rPr>
              <a:t>To automatically trigger intelligent interventions such as reminders, warnings, and temporary app locks using Accessibility Service</a:t>
            </a:r>
          </a:p>
          <a:p>
            <a:pPr marL="285750" indent="-285750">
              <a:lnSpc>
                <a:spcPct val="200000"/>
              </a:lnSpc>
              <a:buFont typeface="Arial" panose="020B0604020202020204" pitchFamily="34" charset="0"/>
              <a:buChar char="•"/>
            </a:pPr>
            <a:r>
              <a:rPr lang="en-GB" dirty="0">
                <a:latin typeface="Pattanakarn SemiExpanded" panose="020B0604020202020204" charset="-34"/>
                <a:cs typeface="Pattanakarn SemiExpanded" panose="020B0604020202020204" charset="-34"/>
              </a:rPr>
              <a:t>To send real-time alerts and reminders using Firebase Cloud Messaging (FCM)</a:t>
            </a:r>
          </a:p>
          <a:p>
            <a:pPr marL="285750" indent="-285750">
              <a:lnSpc>
                <a:spcPct val="200000"/>
              </a:lnSpc>
              <a:buFont typeface="Arial" panose="020B0604020202020204" pitchFamily="34" charset="0"/>
              <a:buChar char="•"/>
            </a:pPr>
            <a:r>
              <a:rPr lang="en-GB" dirty="0">
                <a:latin typeface="Pattanakarn SemiExpanded" panose="020B0604020202020204" charset="-34"/>
                <a:cs typeface="Pattanakarn SemiExpanded" panose="020B0604020202020204" charset="-34"/>
              </a:rPr>
              <a:t>To store usage summaries and AI outputs securely in MongoDB via a Node.js + Express backend</a:t>
            </a:r>
          </a:p>
          <a:p>
            <a:pPr marL="285750" indent="-285750">
              <a:lnSpc>
                <a:spcPct val="200000"/>
              </a:lnSpc>
              <a:buFont typeface="Arial" panose="020B0604020202020204" pitchFamily="34" charset="0"/>
              <a:buChar char="•"/>
            </a:pPr>
            <a:r>
              <a:rPr lang="en-GB" dirty="0">
                <a:latin typeface="Pattanakarn SemiExpanded" panose="020B0604020202020204" charset="-34"/>
                <a:cs typeface="Pattanakarn SemiExpanded" panose="020B0604020202020204" charset="-34"/>
              </a:rPr>
              <a:t>To ensure privacy-first operation through on-device preprocessing and no access to personal messages or content.</a:t>
            </a:r>
          </a:p>
          <a:p>
            <a:pPr marL="285750" indent="-285750">
              <a:lnSpc>
                <a:spcPct val="200000"/>
              </a:lnSpc>
              <a:buFont typeface="Arial" panose="020B0604020202020204" pitchFamily="34" charset="0"/>
              <a:buChar char="•"/>
            </a:pPr>
            <a:endParaRPr lang="en-IN" dirty="0">
              <a:latin typeface="Pattanakarn SemiExpanded" panose="020B0604020202020204" charset="-34"/>
              <a:cs typeface="Pattanakarn SemiExpanded" panose="020B0604020202020204" charset="-3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sp>
        <p:nvSpPr>
          <p:cNvPr id="3" name="Freeform 3"/>
          <p:cNvSpPr/>
          <p:nvPr/>
        </p:nvSpPr>
        <p:spPr>
          <a:xfrm>
            <a:off x="15943522" y="300728"/>
            <a:ext cx="1918826" cy="1918826"/>
          </a:xfrm>
          <a:custGeom>
            <a:avLst/>
            <a:gdLst/>
            <a:ahLst/>
            <a:cxnLst/>
            <a:rect l="l" t="t" r="r" b="b"/>
            <a:pathLst>
              <a:path w="1918826" h="1918826">
                <a:moveTo>
                  <a:pt x="0" y="0"/>
                </a:moveTo>
                <a:lnTo>
                  <a:pt x="1918826" y="0"/>
                </a:lnTo>
                <a:lnTo>
                  <a:pt x="1918826" y="1918825"/>
                </a:lnTo>
                <a:lnTo>
                  <a:pt x="0" y="1918825"/>
                </a:lnTo>
                <a:lnTo>
                  <a:pt x="0" y="0"/>
                </a:lnTo>
                <a:close/>
              </a:path>
            </a:pathLst>
          </a:custGeom>
          <a:blipFill>
            <a:blip r:embed="rId3"/>
            <a:stretch>
              <a:fillRect/>
            </a:stretch>
          </a:blipFill>
        </p:spPr>
      </p:sp>
      <p:sp>
        <p:nvSpPr>
          <p:cNvPr id="4" name="TextBox 4"/>
          <p:cNvSpPr txBox="1"/>
          <p:nvPr/>
        </p:nvSpPr>
        <p:spPr>
          <a:xfrm>
            <a:off x="914400" y="952500"/>
            <a:ext cx="5928734" cy="946658"/>
          </a:xfrm>
          <a:prstGeom prst="rect">
            <a:avLst/>
          </a:prstGeom>
        </p:spPr>
        <p:txBody>
          <a:bodyPr lIns="0" tIns="0" rIns="0" bIns="0" rtlCol="0" anchor="t">
            <a:spAutoFit/>
          </a:bodyPr>
          <a:lstStyle/>
          <a:p>
            <a:pPr algn="l">
              <a:lnSpc>
                <a:spcPts val="7080"/>
              </a:lnSpc>
            </a:pPr>
            <a:r>
              <a:rPr lang="en-US" sz="7299" b="1" dirty="0">
                <a:solidFill>
                  <a:srgbClr val="000000"/>
                </a:solidFill>
                <a:latin typeface="Pattanakarn SemiExpanded Bold"/>
                <a:ea typeface="Pattanakarn SemiExpanded Bold"/>
                <a:cs typeface="Pattanakarn SemiExpanded Bold"/>
                <a:sym typeface="Pattanakarn SemiExpanded Bold"/>
              </a:rPr>
              <a:t>Tech Stack</a:t>
            </a:r>
          </a:p>
        </p:txBody>
      </p:sp>
      <p:sp>
        <p:nvSpPr>
          <p:cNvPr id="5" name="TextBox 4">
            <a:extLst>
              <a:ext uri="{FF2B5EF4-FFF2-40B4-BE49-F238E27FC236}">
                <a16:creationId xmlns:a16="http://schemas.microsoft.com/office/drawing/2014/main" id="{557691F6-DBF3-C2E5-6E23-71A439180B66}"/>
              </a:ext>
            </a:extLst>
          </p:cNvPr>
          <p:cNvSpPr txBox="1"/>
          <p:nvPr/>
        </p:nvSpPr>
        <p:spPr>
          <a:xfrm>
            <a:off x="1066800" y="2095500"/>
            <a:ext cx="16535400" cy="4801314"/>
          </a:xfrm>
          <a:prstGeom prst="rect">
            <a:avLst/>
          </a:prstGeom>
          <a:noFill/>
        </p:spPr>
        <p:txBody>
          <a:bodyPr wrap="square" rtlCol="0">
            <a:spAutoFit/>
          </a:bodyPr>
          <a:lstStyle/>
          <a:p>
            <a:pPr marL="285750" indent="-285750">
              <a:lnSpc>
                <a:spcPct val="200000"/>
              </a:lnSpc>
              <a:buFont typeface="Wingdings" panose="05000000000000000000" pitchFamily="2" charset="2"/>
              <a:buChar char="§"/>
            </a:pPr>
            <a:r>
              <a:rPr lang="en-IN" dirty="0">
                <a:latin typeface="Pattanakarn SemiExpanded" panose="020B0604020202020204" charset="-34"/>
                <a:cs typeface="Pattanakarn SemiExpanded" panose="020B0604020202020204" charset="-34"/>
              </a:rPr>
              <a:t>Mobile Application -React Native (JavaScript / TypeScript)</a:t>
            </a:r>
          </a:p>
          <a:p>
            <a:pPr marL="285750" indent="-285750">
              <a:lnSpc>
                <a:spcPct val="200000"/>
              </a:lnSpc>
              <a:buFont typeface="Wingdings" panose="05000000000000000000" pitchFamily="2" charset="2"/>
              <a:buChar char="§"/>
            </a:pPr>
            <a:r>
              <a:rPr lang="en-IN" dirty="0">
                <a:latin typeface="Pattanakarn SemiExpanded" panose="020B0604020202020204" charset="-34"/>
                <a:cs typeface="Pattanakarn SemiExpanded" panose="020B0604020202020204" charset="-34"/>
              </a:rPr>
              <a:t>Android System APIs- </a:t>
            </a:r>
            <a:r>
              <a:rPr lang="en-IN" dirty="0" err="1">
                <a:latin typeface="Pattanakarn SemiExpanded" panose="020B0604020202020204" charset="-34"/>
                <a:cs typeface="Pattanakarn SemiExpanded" panose="020B0604020202020204" charset="-34"/>
              </a:rPr>
              <a:t>UsageStatsManager</a:t>
            </a:r>
            <a:r>
              <a:rPr lang="en-IN" dirty="0">
                <a:latin typeface="Pattanakarn SemiExpanded" panose="020B0604020202020204" charset="-34"/>
                <a:cs typeface="Pattanakarn SemiExpanded" panose="020B0604020202020204" charset="-34"/>
              </a:rPr>
              <a:t> – screen &amp; app </a:t>
            </a:r>
            <a:r>
              <a:rPr lang="en-IN" dirty="0" err="1">
                <a:latin typeface="Pattanakarn SemiExpanded" panose="020B0604020202020204" charset="-34"/>
                <a:cs typeface="Pattanakarn SemiExpanded" panose="020B0604020202020204" charset="-34"/>
              </a:rPr>
              <a:t>usage,Accessibility</a:t>
            </a:r>
            <a:r>
              <a:rPr lang="en-IN" dirty="0">
                <a:latin typeface="Pattanakarn SemiExpanded" panose="020B0604020202020204" charset="-34"/>
                <a:cs typeface="Pattanakarn SemiExpanded" panose="020B0604020202020204" charset="-34"/>
              </a:rPr>
              <a:t> Service – temporary app </a:t>
            </a:r>
            <a:r>
              <a:rPr lang="en-IN" dirty="0" err="1">
                <a:latin typeface="Pattanakarn SemiExpanded" panose="020B0604020202020204" charset="-34"/>
                <a:cs typeface="Pattanakarn SemiExpanded" panose="020B0604020202020204" charset="-34"/>
              </a:rPr>
              <a:t>lock,Background</a:t>
            </a:r>
            <a:r>
              <a:rPr lang="en-IN" dirty="0">
                <a:latin typeface="Pattanakarn SemiExpanded" panose="020B0604020202020204" charset="-34"/>
                <a:cs typeface="Pattanakarn SemiExpanded" panose="020B0604020202020204" charset="-34"/>
              </a:rPr>
              <a:t> Services –        continuous monitoring</a:t>
            </a:r>
          </a:p>
          <a:p>
            <a:pPr marL="285750" indent="-285750">
              <a:lnSpc>
                <a:spcPct val="200000"/>
              </a:lnSpc>
              <a:buFont typeface="Wingdings" panose="05000000000000000000" pitchFamily="2" charset="2"/>
              <a:buChar char="§"/>
            </a:pPr>
            <a:r>
              <a:rPr lang="en-IN" dirty="0">
                <a:latin typeface="Pattanakarn SemiExpanded" panose="020B0604020202020204" charset="-34"/>
                <a:cs typeface="Pattanakarn SemiExpanded" panose="020B0604020202020204" charset="-34"/>
              </a:rPr>
              <a:t> AI / ML Layer- </a:t>
            </a:r>
            <a:r>
              <a:rPr lang="en-IN" dirty="0" err="1">
                <a:latin typeface="Pattanakarn SemiExpanded" panose="020B0604020202020204" charset="-34"/>
                <a:cs typeface="Pattanakarn SemiExpanded" panose="020B0604020202020204" charset="-34"/>
              </a:rPr>
              <a:t>Behavior</a:t>
            </a:r>
            <a:r>
              <a:rPr lang="en-IN" dirty="0">
                <a:latin typeface="Pattanakarn SemiExpanded" panose="020B0604020202020204" charset="-34"/>
                <a:cs typeface="Pattanakarn SemiExpanded" panose="020B0604020202020204" charset="-34"/>
              </a:rPr>
              <a:t> Pattern </a:t>
            </a:r>
            <a:r>
              <a:rPr lang="en-IN" dirty="0" err="1">
                <a:latin typeface="Pattanakarn SemiExpanded" panose="020B0604020202020204" charset="-34"/>
                <a:cs typeface="Pattanakarn SemiExpanded" panose="020B0604020202020204" charset="-34"/>
              </a:rPr>
              <a:t>Analysis,Anomaly</a:t>
            </a:r>
            <a:r>
              <a:rPr lang="en-IN" dirty="0">
                <a:latin typeface="Pattanakarn SemiExpanded" panose="020B0604020202020204" charset="-34"/>
                <a:cs typeface="Pattanakarn SemiExpanded" panose="020B0604020202020204" charset="-34"/>
              </a:rPr>
              <a:t> Detection &amp; Trend Analysis</a:t>
            </a:r>
          </a:p>
          <a:p>
            <a:pPr marL="285750" indent="-285750">
              <a:lnSpc>
                <a:spcPct val="200000"/>
              </a:lnSpc>
              <a:buFont typeface="Wingdings" panose="05000000000000000000" pitchFamily="2" charset="2"/>
              <a:buChar char="§"/>
            </a:pPr>
            <a:r>
              <a:rPr lang="en-IN" dirty="0">
                <a:latin typeface="Pattanakarn SemiExpanded" panose="020B0604020202020204" charset="-34"/>
                <a:cs typeface="Pattanakarn SemiExpanded" panose="020B0604020202020204" charset="-34"/>
              </a:rPr>
              <a:t>  Models: Isolation Forest, Moving Average</a:t>
            </a:r>
          </a:p>
          <a:p>
            <a:pPr marL="285750" indent="-285750">
              <a:lnSpc>
                <a:spcPct val="200000"/>
              </a:lnSpc>
              <a:buFont typeface="Wingdings" panose="05000000000000000000" pitchFamily="2" charset="2"/>
              <a:buChar char="§"/>
            </a:pPr>
            <a:r>
              <a:rPr lang="en-IN" dirty="0">
                <a:latin typeface="Pattanakarn SemiExpanded" panose="020B0604020202020204" charset="-34"/>
                <a:cs typeface="Pattanakarn SemiExpanded" panose="020B0604020202020204" charset="-34"/>
              </a:rPr>
              <a:t>Backend -Node.js + Express.js</a:t>
            </a:r>
          </a:p>
          <a:p>
            <a:pPr marL="285750" indent="-285750">
              <a:lnSpc>
                <a:spcPct val="200000"/>
              </a:lnSpc>
              <a:buFont typeface="Wingdings" panose="05000000000000000000" pitchFamily="2" charset="2"/>
              <a:buChar char="§"/>
            </a:pPr>
            <a:r>
              <a:rPr lang="en-IN" dirty="0">
                <a:latin typeface="Pattanakarn SemiExpanded" panose="020B0604020202020204" charset="-34"/>
                <a:cs typeface="Pattanakarn SemiExpanded" panose="020B0604020202020204" charset="-34"/>
              </a:rPr>
              <a:t>Database- MongoDB</a:t>
            </a:r>
          </a:p>
          <a:p>
            <a:pPr marL="285750" indent="-285750">
              <a:lnSpc>
                <a:spcPct val="200000"/>
              </a:lnSpc>
              <a:buFont typeface="Wingdings" panose="05000000000000000000" pitchFamily="2" charset="2"/>
              <a:buChar char="§"/>
            </a:pPr>
            <a:r>
              <a:rPr lang="en-IN" dirty="0">
                <a:latin typeface="Pattanakarn SemiExpanded" panose="020B0604020202020204" charset="-34"/>
                <a:cs typeface="Pattanakarn SemiExpanded" panose="020B0604020202020204" charset="-34"/>
              </a:rPr>
              <a:t> Notifications -Firebase Cloud Messaging (FCM)</a:t>
            </a: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15943522" y="300728"/>
            <a:ext cx="1918826" cy="1918826"/>
          </a:xfrm>
          <a:custGeom>
            <a:avLst/>
            <a:gdLst/>
            <a:ahLst/>
            <a:cxnLst/>
            <a:rect l="l" t="t" r="r" b="b"/>
            <a:pathLst>
              <a:path w="1918826" h="1918826">
                <a:moveTo>
                  <a:pt x="0" y="0"/>
                </a:moveTo>
                <a:lnTo>
                  <a:pt x="1918826" y="0"/>
                </a:lnTo>
                <a:lnTo>
                  <a:pt x="1918826" y="1918825"/>
                </a:lnTo>
                <a:lnTo>
                  <a:pt x="0" y="1918825"/>
                </a:lnTo>
                <a:lnTo>
                  <a:pt x="0" y="0"/>
                </a:lnTo>
                <a:close/>
              </a:path>
            </a:pathLst>
          </a:custGeom>
          <a:blipFill>
            <a:blip r:embed="rId3"/>
            <a:stretch>
              <a:fillRect/>
            </a:stretch>
          </a:blipFill>
        </p:spPr>
      </p:sp>
      <p:sp>
        <p:nvSpPr>
          <p:cNvPr id="4" name="TextBox 4"/>
          <p:cNvSpPr txBox="1"/>
          <p:nvPr/>
        </p:nvSpPr>
        <p:spPr>
          <a:xfrm>
            <a:off x="5118756" y="4578375"/>
            <a:ext cx="8050488" cy="1358850"/>
          </a:xfrm>
          <a:prstGeom prst="rect">
            <a:avLst/>
          </a:prstGeom>
        </p:spPr>
        <p:txBody>
          <a:bodyPr lIns="0" tIns="0" rIns="0" bIns="0" rtlCol="0" anchor="t">
            <a:spAutoFit/>
          </a:bodyPr>
          <a:lstStyle/>
          <a:p>
            <a:pPr algn="ctr">
              <a:lnSpc>
                <a:spcPts val="10139"/>
              </a:lnSpc>
            </a:pPr>
            <a:r>
              <a:rPr lang="en-US" sz="10453" b="1">
                <a:solidFill>
                  <a:srgbClr val="000000"/>
                </a:solidFill>
                <a:latin typeface="Pattanakarn SemiExpanded Bold"/>
                <a:ea typeface="Pattanakarn SemiExpanded Bold"/>
                <a:cs typeface="Pattanakarn SemiExpanded Bold"/>
                <a:sym typeface="Pattanakarn SemiExpanded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TotalTime>
  <Words>663</Words>
  <Application>Microsoft Office PowerPoint</Application>
  <PresentationFormat>Custom</PresentationFormat>
  <Paragraphs>82</Paragraphs>
  <Slides>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ITC Benguiat</vt:lpstr>
      <vt:lpstr>Calibri</vt:lpstr>
      <vt:lpstr>Pattanakarn SemiExpanded Bold</vt:lpstr>
      <vt:lpstr>Wingdings</vt:lpstr>
      <vt:lpstr>Pattanakarn SemiExpanded</vt:lpstr>
      <vt:lpstr>DM Sans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webathon 4.0 ppt template</dc:title>
  <dc:creator>Aligeti Rahul</dc:creator>
  <cp:lastModifiedBy>Rahul Aligeti</cp:lastModifiedBy>
  <cp:revision>2</cp:revision>
  <dcterms:created xsi:type="dcterms:W3CDTF">2006-08-16T00:00:00Z</dcterms:created>
  <dcterms:modified xsi:type="dcterms:W3CDTF">2026-02-05T18:28:53Z</dcterms:modified>
  <dc:identifier>DAG__tKIFP4</dc:identifier>
</cp:coreProperties>
</file>